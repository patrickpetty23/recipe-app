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DD3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8755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3F8FF"/>
                </a:solidFill>
                <a:latin typeface="Aptos Display"/>
              </a:rPr>
              <a:t>Recipe Scanner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B9C8DD"/>
                </a:solidFill>
                <a:latin typeface="Aptos"/>
              </a:rPr>
              <a:t>Midterm Pitch to Technical + Business Leadership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04120" y="338328"/>
            <a:ext cx="1828800" cy="530352"/>
          </a:xfrm>
          <a:prstGeom prst="roundRect">
            <a:avLst/>
          </a:prstGeom>
          <a:solidFill>
            <a:srgbClr val="1A3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DD3A7"/>
                </a:solidFill>
                <a:latin typeface="Aptos"/>
              </a:rPr>
              <a:t>Speaker A | 0:45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7955279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3F8FF"/>
                </a:solidFill>
                <a:latin typeface="Aptos"/>
              </a:rPr>
              <a:t>Decision ask: Greenlight continuation with focused execution
on screenshot-noise risk reduction.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78240" y="1783080"/>
            <a:ext cx="2743200" cy="2240280"/>
          </a:xfrm>
          <a:prstGeom prst="roundRect">
            <a:avLst/>
          </a:prstGeom>
          <a:solidFill>
            <a:srgbClr val="122B4D"/>
          </a:solidFill>
          <a:ln w="15240">
            <a:solidFill>
              <a:srgbClr val="1A3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DD3A7"/>
                </a:solidFill>
                <a:latin typeface="Aptos"/>
              </a:rPr>
              <a:t>Board-Level 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6840" y="228600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F3F8FF"/>
                </a:solidFill>
                <a:latin typeface="Aptos"/>
              </a:defRPr>
            </a:pPr>
            <a:r>
              <a:t>• Customer proof</a:t>
            </a:r>
          </a:p>
          <a:p>
            <a:pPr>
              <a:spcAft>
                <a:spcPts val="700"/>
              </a:spcAft>
              <a:defRPr sz="1300">
                <a:solidFill>
                  <a:srgbClr val="F3F8FF"/>
                </a:solidFill>
                <a:latin typeface="Aptos"/>
              </a:defRPr>
            </a:pPr>
            <a:r>
              <a:t>• Business hypothesis</a:t>
            </a:r>
          </a:p>
          <a:p>
            <a:pPr>
              <a:spcAft>
                <a:spcPts val="700"/>
              </a:spcAft>
              <a:defRPr sz="1300">
                <a:solidFill>
                  <a:srgbClr val="F3F8FF"/>
                </a:solidFill>
                <a:latin typeface="Aptos"/>
              </a:defRPr>
            </a:pPr>
            <a:r>
              <a:t>• Technical process</a:t>
            </a:r>
          </a:p>
          <a:p>
            <a:pPr>
              <a:spcAft>
                <a:spcPts val="700"/>
              </a:spcAft>
              <a:defRPr sz="1300">
                <a:solidFill>
                  <a:srgbClr val="F3F8FF"/>
                </a:solidFill>
                <a:latin typeface="Aptos"/>
              </a:defRPr>
            </a:pPr>
            <a:r>
              <a:t>• Risk-adjusted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86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B9C8DD"/>
                </a:solidFill>
                <a:latin typeface="Aptos"/>
              </a:rPr>
              <a:t>Repository: https://github.com/patrickpetty23/recipe-app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9692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9C8DD"/>
                </a:solidFill>
                <a:latin typeface="Aptos"/>
              </a:rPr>
              <a:t>Recipe Scanner Midterm | https://github.com/patrickpetty23/recipe-app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38251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B9C8DD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DD3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8755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3F8FF"/>
                </a:solidFill>
                <a:latin typeface="Aptos Display"/>
              </a:rPr>
              <a:t>Executive Narrative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B9C8DD"/>
                </a:solidFill>
                <a:latin typeface="Aptos"/>
              </a:rPr>
              <a:t>Simple story: pain -&gt; proof -&gt; decision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04120" y="338328"/>
            <a:ext cx="1828800" cy="530352"/>
          </a:xfrm>
          <a:prstGeom prst="roundRect">
            <a:avLst/>
          </a:prstGeom>
          <a:solidFill>
            <a:srgbClr val="1A3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DD3A7"/>
                </a:solidFill>
                <a:latin typeface="Aptos"/>
              </a:rPr>
              <a:t>Speaker A | 1:00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3657600" cy="4297680"/>
          </a:xfrm>
          <a:prstGeom prst="roundRect">
            <a:avLst/>
          </a:prstGeom>
          <a:solidFill>
            <a:srgbClr val="122B4D"/>
          </a:solidFill>
          <a:ln w="15240">
            <a:solidFill>
              <a:srgbClr val="1A3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DD3A7"/>
                </a:solidFill>
                <a:latin typeface="Aptos"/>
              </a:rPr>
              <a:t>Pain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2240280"/>
            <a:ext cx="315468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F3F8FF"/>
                </a:solidFill>
                <a:latin typeface="Aptos"/>
              </a:rPr>
              <a:t>Users repeatedly retype ingredient lists, losing time and missing items.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1645920"/>
            <a:ext cx="3657600" cy="4297680"/>
          </a:xfrm>
          <a:prstGeom prst="roundRect">
            <a:avLst/>
          </a:prstGeom>
          <a:solidFill>
            <a:srgbClr val="122B4D"/>
          </a:solidFill>
          <a:ln w="15240">
            <a:solidFill>
              <a:srgbClr val="1A3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DD3A7"/>
                </a:solidFill>
                <a:latin typeface="Aptos"/>
              </a:rPr>
              <a:t>Proof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82312" y="2240280"/>
            <a:ext cx="315468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F3F8FF"/>
                </a:solidFill>
                <a:latin typeface="Aptos"/>
              </a:rPr>
              <a:t>Pilot data shows 41% faster list creation vs manual baseline.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66760" y="1645920"/>
            <a:ext cx="3657600" cy="4297680"/>
          </a:xfrm>
          <a:prstGeom prst="roundRect">
            <a:avLst/>
          </a:prstGeom>
          <a:solidFill>
            <a:srgbClr val="122B4D"/>
          </a:solidFill>
          <a:ln w="15240">
            <a:solidFill>
              <a:srgbClr val="1A3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DD3A7"/>
                </a:solidFill>
                <a:latin typeface="Aptos"/>
              </a:rPr>
              <a:t>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22792" y="2240280"/>
            <a:ext cx="315468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F3F8FF"/>
                </a:solidFill>
                <a:latin typeface="Aptos"/>
              </a:rPr>
              <a:t>Continue direction; prioritize screenshot-noise reduction.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00800"/>
            <a:ext cx="9692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9C8DD"/>
                </a:solidFill>
                <a:latin typeface="Aptos"/>
              </a:rPr>
              <a:t>Recipe Scanner Midterm | https://github.com/patrickpetty23/recipe-app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38251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B9C8DD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DD3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8755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3F8FF"/>
                </a:solidFill>
                <a:latin typeface="Aptos Display"/>
              </a:rPr>
              <a:t>Customer Deep Analysis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B9C8DD"/>
                </a:solidFill>
                <a:latin typeface="Aptos"/>
              </a:rPr>
              <a:t>Primary fit: roommate undergrads + ELS students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04120" y="338328"/>
            <a:ext cx="1828800" cy="530352"/>
          </a:xfrm>
          <a:prstGeom prst="roundRect">
            <a:avLst/>
          </a:prstGeom>
          <a:solidFill>
            <a:srgbClr val="1A3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DD3A7"/>
                </a:solidFill>
                <a:latin typeface="Aptos"/>
              </a:rPr>
              <a:t>Speaker A | 1:05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10972800" cy="4389120"/>
          </a:xfrm>
          <a:prstGeom prst="roundRect">
            <a:avLst/>
          </a:prstGeom>
          <a:solidFill>
            <a:srgbClr val="122B4D"/>
          </a:solidFill>
          <a:ln w="15240">
            <a:solidFill>
              <a:srgbClr val="1A3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DD3A7"/>
                </a:solidFill>
                <a:latin typeface="Aptos"/>
              </a:rPr>
              <a:t>Segment Prioritization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DD3A7"/>
                </a:solidFill>
                <a:latin typeface="Aptos"/>
              </a:rPr>
              <a:t>Segment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19202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DD3A7"/>
                </a:solidFill>
                <a:latin typeface="Aptos"/>
              </a:rPr>
              <a:t>Fit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1920240"/>
            <a:ext cx="6217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DD3A7"/>
                </a:solidFill>
                <a:latin typeface="Aptos"/>
              </a:rPr>
              <a:t>Reason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267712"/>
            <a:ext cx="10607040" cy="749808"/>
          </a:xfrm>
          <a:prstGeom prst="roundRect">
            <a:avLst/>
          </a:prstGeom>
          <a:solidFill>
            <a:srgbClr val="122B4D"/>
          </a:solidFill>
          <a:ln w="15240">
            <a:solidFill>
              <a:srgbClr val="1A3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331720"/>
            <a:ext cx="2834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F3F8FF"/>
                </a:solidFill>
                <a:latin typeface="Aptos"/>
              </a:rPr>
              <a:t>Roommate undergrad cooks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2331720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DD3A7"/>
                </a:solidFill>
                <a:latin typeface="Aptos"/>
              </a:rPr>
              <a:t>5/5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2331720"/>
            <a:ext cx="6217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B9C8DD"/>
                </a:solidFill>
                <a:latin typeface="Aptos"/>
              </a:rPr>
              <a:t>High frequency, screenshot-heavy, manual workflow pain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108960"/>
            <a:ext cx="10607040" cy="749808"/>
          </a:xfrm>
          <a:prstGeom prst="roundRect">
            <a:avLst/>
          </a:prstGeom>
          <a:solidFill>
            <a:srgbClr val="122B4D"/>
          </a:solidFill>
          <a:ln w="15240">
            <a:solidFill>
              <a:srgbClr val="1A3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172968"/>
            <a:ext cx="2834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F3F8FF"/>
                </a:solidFill>
                <a:latin typeface="Aptos"/>
              </a:rPr>
              <a:t>ELS/international student cooks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69080" y="3172968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DD3A7"/>
                </a:solidFill>
                <a:latin typeface="Aptos"/>
              </a:rPr>
              <a:t>5/5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3172968"/>
            <a:ext cx="6217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B9C8DD"/>
                </a:solidFill>
                <a:latin typeface="Aptos"/>
              </a:rPr>
              <a:t>Mixed-language ingredient friction + translation effort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3950207"/>
            <a:ext cx="10607040" cy="749808"/>
          </a:xfrm>
          <a:prstGeom prst="roundRect">
            <a:avLst/>
          </a:prstGeom>
          <a:solidFill>
            <a:srgbClr val="122B4D"/>
          </a:solidFill>
          <a:ln w="15240">
            <a:solidFill>
              <a:srgbClr val="1A3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014215"/>
            <a:ext cx="2834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F3F8FF"/>
                </a:solidFill>
                <a:latin typeface="Aptos"/>
              </a:rPr>
              <a:t>Recipe app power users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4014215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DD3A7"/>
                </a:solidFill>
                <a:latin typeface="Aptos"/>
              </a:rPr>
              <a:t>2/5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4014215"/>
            <a:ext cx="6217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B9C8DD"/>
                </a:solidFill>
                <a:latin typeface="Aptos"/>
              </a:rPr>
              <a:t>Already have structured recipe systems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4791455"/>
            <a:ext cx="10607040" cy="749808"/>
          </a:xfrm>
          <a:prstGeom prst="roundRect">
            <a:avLst/>
          </a:prstGeom>
          <a:solidFill>
            <a:srgbClr val="122B4D"/>
          </a:solidFill>
          <a:ln w="15240">
            <a:solidFill>
              <a:srgbClr val="1A3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4855464"/>
            <a:ext cx="2834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F3F8FF"/>
                </a:solidFill>
                <a:latin typeface="Aptos"/>
              </a:rPr>
              <a:t>Delivery-first users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69080" y="4855464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DD3A7"/>
                </a:solidFill>
                <a:latin typeface="Aptos"/>
              </a:rPr>
              <a:t>1/5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80" y="4855464"/>
            <a:ext cx="6217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B9C8DD"/>
                </a:solidFill>
                <a:latin typeface="Aptos"/>
              </a:rPr>
              <a:t>Low grocery-list building frequency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00800"/>
            <a:ext cx="9692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9C8DD"/>
                </a:solidFill>
                <a:latin typeface="Aptos"/>
              </a:rPr>
              <a:t>Recipe Scanner Midterm | https://github.com/patrickpetty23/recipe-app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38251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B9C8DD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DD3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8755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3F8FF"/>
                </a:solidFill>
                <a:latin typeface="Aptos Display"/>
              </a:rPr>
              <a:t>Voice of Customer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B9C8DD"/>
                </a:solidFill>
                <a:latin typeface="Aptos"/>
              </a:rPr>
              <a:t>3 real roommate interviews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04120" y="338328"/>
            <a:ext cx="1828800" cy="530352"/>
          </a:xfrm>
          <a:prstGeom prst="roundRect">
            <a:avLst/>
          </a:prstGeom>
          <a:solidFill>
            <a:srgbClr val="1A3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DD3A7"/>
                </a:solidFill>
                <a:latin typeface="Aptos"/>
              </a:rPr>
              <a:t>Speaker B | 1:15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3749039" cy="4297680"/>
          </a:xfrm>
          <a:prstGeom prst="roundRect">
            <a:avLst/>
          </a:prstGeom>
          <a:solidFill>
            <a:srgbClr val="122B4D"/>
          </a:solidFill>
          <a:ln w="15240">
            <a:solidFill>
              <a:srgbClr val="1A3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DD3A7"/>
                </a:solidFill>
                <a:latin typeface="Aptos"/>
              </a:rPr>
              <a:t>U1 | Undergrad roommate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240280"/>
            <a:ext cx="1508760" cy="1280160"/>
          </a:xfrm>
          <a:prstGeom prst="roundRect">
            <a:avLst/>
          </a:prstGeom>
          <a:solidFill>
            <a:srgbClr val="1A3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2DD3A7"/>
                </a:solidFill>
                <a:latin typeface="Aptos Display"/>
              </a:rPr>
              <a:t>1m 56s</a:t>
            </a:r>
          </a:p>
          <a:p>
            <a:pPr algn="ctr"/>
            <a:r>
              <a:rPr sz="1100">
                <a:solidFill>
                  <a:srgbClr val="B9C8DD"/>
                </a:solidFill>
                <a:latin typeface="Aptos"/>
              </a:rPr>
              <a:t>Time to 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2377440"/>
            <a:ext cx="1554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2DD3A7"/>
                </a:solidFill>
                <a:latin typeface="Aptos"/>
              </a:rPr>
              <a:t>Interview
completed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794760"/>
            <a:ext cx="320040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F3F8FF"/>
                </a:solidFill>
                <a:latin typeface="Aptos"/>
              </a:rPr>
              <a:t>"Faster than Notes, but I verify fractions."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17136" y="1737360"/>
            <a:ext cx="3749039" cy="4297680"/>
          </a:xfrm>
          <a:prstGeom prst="roundRect">
            <a:avLst/>
          </a:prstGeom>
          <a:solidFill>
            <a:srgbClr val="122B4D"/>
          </a:solidFill>
          <a:ln w="15240">
            <a:solidFill>
              <a:srgbClr val="1A3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DD3A7"/>
                </a:solidFill>
                <a:latin typeface="Aptos"/>
              </a:rPr>
              <a:t>U2 | Undergrad roommate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45736" y="2240280"/>
            <a:ext cx="1508760" cy="1280160"/>
          </a:xfrm>
          <a:prstGeom prst="roundRect">
            <a:avLst/>
          </a:prstGeom>
          <a:solidFill>
            <a:srgbClr val="1A3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2DD3A7"/>
                </a:solidFill>
                <a:latin typeface="Aptos Display"/>
              </a:rPr>
              <a:t>2m 18s</a:t>
            </a:r>
          </a:p>
          <a:p>
            <a:pPr algn="ctr"/>
            <a:r>
              <a:rPr sz="1100">
                <a:solidFill>
                  <a:srgbClr val="B9C8DD"/>
                </a:solidFill>
                <a:latin typeface="Aptos"/>
              </a:rPr>
              <a:t>Time to 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91656" y="2377440"/>
            <a:ext cx="1554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2DD3A7"/>
                </a:solidFill>
                <a:latin typeface="Aptos"/>
              </a:rPr>
              <a:t>Interview
completed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45736" y="3794760"/>
            <a:ext cx="320040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F3F8FF"/>
                </a:solidFill>
                <a:latin typeface="Aptos"/>
              </a:rPr>
              <a:t>"Great import flow. Social text noise is the pain."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94192" y="1737360"/>
            <a:ext cx="3749039" cy="4297680"/>
          </a:xfrm>
          <a:prstGeom prst="roundRect">
            <a:avLst/>
          </a:prstGeom>
          <a:solidFill>
            <a:srgbClr val="122B4D"/>
          </a:solidFill>
          <a:ln w="15240">
            <a:solidFill>
              <a:srgbClr val="1A3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DD3A7"/>
                </a:solidFill>
                <a:latin typeface="Aptos"/>
              </a:rPr>
              <a:t>U3 | ELS roommate from Peru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22792" y="2240280"/>
            <a:ext cx="1508760" cy="1280160"/>
          </a:xfrm>
          <a:prstGeom prst="roundRect">
            <a:avLst/>
          </a:prstGeom>
          <a:solidFill>
            <a:srgbClr val="1A3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2DD3A7"/>
                </a:solidFill>
                <a:latin typeface="Aptos Display"/>
              </a:rPr>
              <a:t>2m 04s</a:t>
            </a:r>
          </a:p>
          <a:p>
            <a:pPr algn="ctr"/>
            <a:r>
              <a:rPr sz="1100">
                <a:solidFill>
                  <a:srgbClr val="B9C8DD"/>
                </a:solidFill>
                <a:latin typeface="Aptos"/>
              </a:rPr>
              <a:t>Time to 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68712" y="2377440"/>
            <a:ext cx="1554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2DD3A7"/>
                </a:solidFill>
                <a:latin typeface="Aptos"/>
              </a:rPr>
              <a:t>Interview
completed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22792" y="3794760"/>
            <a:ext cx="320040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F3F8FF"/>
                </a:solidFill>
                <a:latin typeface="Aptos"/>
              </a:rPr>
              <a:t>"Checklist persistence matters most. Keep it simple."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00800"/>
            <a:ext cx="9692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9C8DD"/>
                </a:solidFill>
                <a:latin typeface="Aptos"/>
              </a:rPr>
              <a:t>Recipe Scanner Midterm | https://github.com/patrickpetty23/recipe-app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38251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B9C8DD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DD3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8755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3F8FF"/>
                </a:solidFill>
                <a:latin typeface="Aptos Display"/>
              </a:rPr>
              <a:t>Hypothesis and Falsification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B9C8DD"/>
                </a:solidFill>
                <a:latin typeface="Aptos"/>
              </a:rPr>
              <a:t>We actively tried to prove ourselves wrong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04120" y="338328"/>
            <a:ext cx="1828800" cy="530352"/>
          </a:xfrm>
          <a:prstGeom prst="roundRect">
            <a:avLst/>
          </a:prstGeom>
          <a:solidFill>
            <a:srgbClr val="1A3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DD3A7"/>
                </a:solidFill>
                <a:latin typeface="Aptos"/>
              </a:rPr>
              <a:t>Speaker B | 1:20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5212080" cy="4480560"/>
          </a:xfrm>
          <a:prstGeom prst="roundRect">
            <a:avLst/>
          </a:prstGeom>
          <a:solidFill>
            <a:srgbClr val="122B4D"/>
          </a:solidFill>
          <a:ln w="15240">
            <a:solidFill>
              <a:srgbClr val="1A3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DD3A7"/>
                </a:solidFill>
                <a:latin typeface="Aptos"/>
              </a:rPr>
              <a:t>Hypothesis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466344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3F8FF"/>
                </a:solidFill>
                <a:latin typeface="Aptos"/>
              </a:rPr>
              <a:t>If list creation speed improves by &gt;=30%, users adopt weekly even with imperfect OCR.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49039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F3F8FF"/>
                </a:solidFill>
                <a:latin typeface="Aptos"/>
              </a:defRPr>
            </a:pPr>
            <a:r>
              <a:t>• Manual baseline: 3m 34s</a:t>
            </a:r>
          </a:p>
          <a:p>
            <a:pPr>
              <a:spcAft>
                <a:spcPts val="700"/>
              </a:spcAft>
              <a:defRPr sz="1500">
                <a:solidFill>
                  <a:srgbClr val="F3F8FF"/>
                </a:solidFill>
                <a:latin typeface="Aptos"/>
              </a:defRPr>
            </a:pPr>
            <a:r>
              <a:t>• App overall: 2m 06s (41% faster)</a:t>
            </a:r>
          </a:p>
          <a:p>
            <a:pPr>
              <a:spcAft>
                <a:spcPts val="700"/>
              </a:spcAft>
              <a:defRPr sz="1500">
                <a:solidFill>
                  <a:srgbClr val="F3F8FF"/>
                </a:solidFill>
                <a:latin typeface="Aptos"/>
              </a:defRPr>
            </a:pPr>
            <a:r>
              <a:t>• Screenshot subset: 28% faster (risk boundary)</a:t>
            </a:r>
          </a:p>
        </p:txBody>
      </p:sp>
      <p:pic>
        <p:nvPicPr>
          <p:cNvPr id="8" name="Picture 7" descr="falsification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600200"/>
            <a:ext cx="5486400" cy="4480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400800"/>
            <a:ext cx="9692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9C8DD"/>
                </a:solidFill>
                <a:latin typeface="Aptos"/>
              </a:rPr>
              <a:t>Recipe Scanner Midterm | https://github.com/patrickpetty23/recipe-app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38251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B9C8DD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DD3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8755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3F8FF"/>
                </a:solidFill>
                <a:latin typeface="Aptos Display"/>
              </a:rPr>
              <a:t>2x2 Differentiation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B9C8DD"/>
                </a:solidFill>
                <a:latin typeface="Aptos"/>
              </a:rPr>
              <a:t>Positioning for business leaders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04120" y="338328"/>
            <a:ext cx="1828800" cy="530352"/>
          </a:xfrm>
          <a:prstGeom prst="roundRect">
            <a:avLst/>
          </a:prstGeom>
          <a:solidFill>
            <a:srgbClr val="1A3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DD3A7"/>
                </a:solidFill>
                <a:latin typeface="Aptos"/>
              </a:rPr>
              <a:t>Speaker B | 1:00</a:t>
            </a:r>
          </a:p>
        </p:txBody>
      </p:sp>
      <p:pic>
        <p:nvPicPr>
          <p:cNvPr id="5" name="Picture 4" descr="differentiation_2x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7406640" cy="44805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412480" y="1508760"/>
            <a:ext cx="3566160" cy="4480560"/>
          </a:xfrm>
          <a:prstGeom prst="roundRect">
            <a:avLst/>
          </a:prstGeom>
          <a:solidFill>
            <a:srgbClr val="122B4D"/>
          </a:solidFill>
          <a:ln w="15240">
            <a:solidFill>
              <a:srgbClr val="1A3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DD3A7"/>
                </a:solidFill>
                <a:latin typeface="Aptos"/>
              </a:rPr>
              <a:t>Strategic Readout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41080" y="2057400"/>
            <a:ext cx="3063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F3F8FF"/>
                </a:solidFill>
                <a:latin typeface="Aptos"/>
              </a:defRPr>
            </a:pPr>
            <a:r>
              <a:t>• Gap: flexible input + structured list output in one flow</a:t>
            </a:r>
          </a:p>
          <a:p>
            <a:pPr>
              <a:spcAft>
                <a:spcPts val="700"/>
              </a:spcAft>
              <a:defRPr sz="1500">
                <a:solidFill>
                  <a:srgbClr val="F3F8FF"/>
                </a:solidFill>
                <a:latin typeface="Aptos"/>
              </a:defRPr>
            </a:pPr>
            <a:r>
              <a:t>• Competitors split this value across separate tools</a:t>
            </a:r>
          </a:p>
          <a:p>
            <a:pPr>
              <a:spcAft>
                <a:spcPts val="700"/>
              </a:spcAft>
              <a:defRPr sz="1500">
                <a:solidFill>
                  <a:srgbClr val="F3F8FF"/>
                </a:solidFill>
                <a:latin typeface="Aptos"/>
              </a:defRPr>
            </a:pPr>
            <a:r>
              <a:t>• Winning condition: keep speed and trust under noisy inputs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9692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9C8DD"/>
                </a:solidFill>
                <a:latin typeface="Aptos"/>
              </a:rPr>
              <a:t>Recipe Scanner Midterm | https://github.com/patrickpetty23/recipe-app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38251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B9C8DD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DD3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8755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3F8FF"/>
                </a:solidFill>
                <a:latin typeface="Aptos Display"/>
              </a:rPr>
              <a:t>Product Demo Storyboard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B9C8DD"/>
                </a:solidFill>
                <a:latin typeface="Aptos"/>
              </a:rPr>
              <a:t>Actual workflow shown as product sequence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04120" y="338328"/>
            <a:ext cx="1828800" cy="530352"/>
          </a:xfrm>
          <a:prstGeom prst="roundRect">
            <a:avLst/>
          </a:prstGeom>
          <a:solidFill>
            <a:srgbClr val="1A3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DD3A7"/>
                </a:solidFill>
                <a:latin typeface="Aptos"/>
              </a:rPr>
              <a:t>Speaker C | 1:10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B9C8DD"/>
                </a:solidFill>
                <a:latin typeface="Aptos"/>
              </a:rPr>
              <a:t>Scan -&gt; Review -&gt; Shop (the same sequence used in testing and customer sessions)</a:t>
            </a:r>
          </a:p>
        </p:txBody>
      </p:sp>
      <p:pic>
        <p:nvPicPr>
          <p:cNvPr id="6" name="Picture 5" descr="demo_sc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83080"/>
            <a:ext cx="3657600" cy="4389120"/>
          </a:xfrm>
          <a:prstGeom prst="rect">
            <a:avLst/>
          </a:prstGeom>
        </p:spPr>
      </p:pic>
      <p:pic>
        <p:nvPicPr>
          <p:cNvPr id="7" name="Picture 6" descr="demo_ed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783080"/>
            <a:ext cx="3657600" cy="4389120"/>
          </a:xfrm>
          <a:prstGeom prst="rect">
            <a:avLst/>
          </a:prstGeom>
        </p:spPr>
      </p:pic>
      <p:pic>
        <p:nvPicPr>
          <p:cNvPr id="8" name="Picture 7" descr="demo_sh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783080"/>
            <a:ext cx="3657600" cy="43891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22960" y="5486400"/>
            <a:ext cx="1920240" cy="914400"/>
          </a:xfrm>
          <a:prstGeom prst="roundRect">
            <a:avLst/>
          </a:prstGeom>
          <a:solidFill>
            <a:srgbClr val="1A3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2DD3A7"/>
                </a:solidFill>
                <a:latin typeface="Aptos Display"/>
              </a:rPr>
              <a:t>0.82</a:t>
            </a:r>
          </a:p>
          <a:p>
            <a:pPr algn="ctr"/>
            <a:r>
              <a:rPr sz="1100">
                <a:solidFill>
                  <a:srgbClr val="B9C8DD"/>
                </a:solidFill>
                <a:latin typeface="Aptos"/>
              </a:rPr>
              <a:t>Median OCR confidence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5486400"/>
            <a:ext cx="1920240" cy="914400"/>
          </a:xfrm>
          <a:prstGeom prst="roundRect">
            <a:avLst/>
          </a:prstGeom>
          <a:solidFill>
            <a:srgbClr val="1A3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2DD3A7"/>
                </a:solidFill>
                <a:latin typeface="Aptos Display"/>
              </a:rPr>
              <a:t>91.3%</a:t>
            </a:r>
          </a:p>
          <a:p>
            <a:pPr algn="ctr"/>
            <a:r>
              <a:rPr sz="1100">
                <a:solidFill>
                  <a:srgbClr val="B9C8DD"/>
                </a:solidFill>
                <a:latin typeface="Aptos"/>
              </a:rPr>
              <a:t>Field accuracy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5486400"/>
            <a:ext cx="1920240" cy="914400"/>
          </a:xfrm>
          <a:prstGeom prst="roundRect">
            <a:avLst/>
          </a:prstGeom>
          <a:solidFill>
            <a:srgbClr val="1A3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2DD3A7"/>
                </a:solidFill>
                <a:latin typeface="Aptos Display"/>
              </a:rPr>
              <a:t>26.9s</a:t>
            </a:r>
          </a:p>
          <a:p>
            <a:pPr algn="ctr"/>
            <a:r>
              <a:rPr sz="1100">
                <a:solidFill>
                  <a:srgbClr val="B9C8DD"/>
                </a:solidFill>
                <a:latin typeface="Aptos"/>
              </a:rPr>
              <a:t>Median saved-list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00800"/>
            <a:ext cx="9692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9C8DD"/>
                </a:solidFill>
                <a:latin typeface="Aptos"/>
              </a:rPr>
              <a:t>Recipe Scanner Midterm | https://github.com/patrickpetty23/recipe-app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38251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B9C8DD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DD3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8755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3F8FF"/>
                </a:solidFill>
                <a:latin typeface="Aptos Display"/>
              </a:rPr>
              <a:t>System Architecture and Leverage Points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B9C8DD"/>
                </a:solidFill>
                <a:latin typeface="Aptos"/>
              </a:rPr>
              <a:t>Where we intervene in the larger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04120" y="338328"/>
            <a:ext cx="1828800" cy="530352"/>
          </a:xfrm>
          <a:prstGeom prst="roundRect">
            <a:avLst/>
          </a:prstGeom>
          <a:solidFill>
            <a:srgbClr val="1A3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DD3A7"/>
                </a:solidFill>
                <a:latin typeface="Aptos"/>
              </a:rPr>
              <a:t>Speaker B | 1:05</a:t>
            </a:r>
          </a:p>
        </p:txBody>
      </p:sp>
      <p:pic>
        <p:nvPicPr>
          <p:cNvPr id="5" name="Picture 4" descr="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7589520" cy="44805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458200" y="1554480"/>
            <a:ext cx="3474720" cy="4480560"/>
          </a:xfrm>
          <a:prstGeom prst="roundRect">
            <a:avLst/>
          </a:prstGeom>
          <a:solidFill>
            <a:srgbClr val="122B4D"/>
          </a:solidFill>
          <a:ln w="15240">
            <a:solidFill>
              <a:srgbClr val="1A3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DD3A7"/>
                </a:solidFill>
                <a:latin typeface="Aptos"/>
              </a:rPr>
              <a:t>Leverage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205740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F3F8FF"/>
                </a:solidFill>
                <a:latin typeface="Aptos"/>
              </a:defRPr>
            </a:pPr>
            <a:r>
              <a:t>• LP1 OCR quality</a:t>
            </a:r>
          </a:p>
          <a:p>
            <a:pPr>
              <a:spcAft>
                <a:spcPts val="700"/>
              </a:spcAft>
              <a:defRPr sz="1500">
                <a:solidFill>
                  <a:srgbClr val="F3F8FF"/>
                </a:solidFill>
                <a:latin typeface="Aptos"/>
              </a:defRPr>
            </a:pPr>
            <a:r>
              <a:t>• LP2 Parser precision</a:t>
            </a:r>
          </a:p>
          <a:p>
            <a:pPr>
              <a:spcAft>
                <a:spcPts val="700"/>
              </a:spcAft>
              <a:defRPr sz="1500">
                <a:solidFill>
                  <a:srgbClr val="F3F8FF"/>
                </a:solidFill>
                <a:latin typeface="Aptos"/>
              </a:defRPr>
            </a:pPr>
            <a:r>
              <a:t>• LP3 Edit speed</a:t>
            </a:r>
          </a:p>
          <a:p>
            <a:pPr>
              <a:spcAft>
                <a:spcPts val="700"/>
              </a:spcAft>
              <a:defRPr sz="1500">
                <a:solidFill>
                  <a:srgbClr val="F3F8FF"/>
                </a:solidFill>
                <a:latin typeface="Aptos"/>
              </a:defRPr>
            </a:pPr>
            <a:r>
              <a:t>• LP4 Checklist persistence</a:t>
            </a:r>
          </a:p>
          <a:p>
            <a:pPr>
              <a:spcAft>
                <a:spcPts val="700"/>
              </a:spcAft>
              <a:defRPr sz="1500">
                <a:solidFill>
                  <a:srgbClr val="F3F8FF"/>
                </a:solidFill>
                <a:latin typeface="Aptos"/>
              </a:defRPr>
            </a:pPr>
            <a:r>
              <a:t>• Target: translation bottleneck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9692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9C8DD"/>
                </a:solidFill>
                <a:latin typeface="Aptos"/>
              </a:rPr>
              <a:t>Recipe Scanner Midterm | https://github.com/patrickpetty23/recipe-app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38251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B9C8DD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DD3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8755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3F8FF"/>
                </a:solidFill>
                <a:latin typeface="Aptos Display"/>
              </a:rPr>
              <a:t>Technical Process Evidence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B9C8DD"/>
                </a:solidFill>
                <a:latin typeface="Aptos"/>
              </a:rPr>
              <a:t>Built phase-by-phase, not one-shot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04120" y="338328"/>
            <a:ext cx="1828800" cy="530352"/>
          </a:xfrm>
          <a:prstGeom prst="roundRect">
            <a:avLst/>
          </a:prstGeom>
          <a:solidFill>
            <a:srgbClr val="1A3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DD3A7"/>
                </a:solidFill>
                <a:latin typeface="Aptos"/>
              </a:rPr>
              <a:t>Speaker C | 1:00</a:t>
            </a:r>
          </a:p>
        </p:txBody>
      </p:sp>
      <p:pic>
        <p:nvPicPr>
          <p:cNvPr id="5" name="Picture 4" descr="process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10972800" cy="30632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4709160"/>
            <a:ext cx="5440680" cy="1325880"/>
          </a:xfrm>
          <a:prstGeom prst="roundRect">
            <a:avLst/>
          </a:prstGeom>
          <a:solidFill>
            <a:srgbClr val="122B4D"/>
          </a:solidFill>
          <a:ln w="15240">
            <a:solidFill>
              <a:srgbClr val="1A3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DD3A7"/>
                </a:solidFill>
                <a:latin typeface="Aptos"/>
              </a:rPr>
              <a:t>Process Signals Casey Cares About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5074920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F3F8FF"/>
                </a:solidFill>
                <a:latin typeface="Aptos"/>
              </a:defRPr>
            </a:pPr>
            <a:r>
              <a:t>• Roadmap checklists completed by phase</a:t>
            </a:r>
          </a:p>
          <a:p>
            <a:pPr>
              <a:spcAft>
                <a:spcPts val="700"/>
              </a:spcAft>
              <a:defRPr sz="1400">
                <a:solidFill>
                  <a:srgbClr val="F3F8FF"/>
                </a:solidFill>
                <a:latin typeface="Aptos"/>
              </a:defRPr>
            </a:pPr>
            <a:r>
              <a:t>• Docs updated as implementation evolved</a:t>
            </a:r>
          </a:p>
          <a:p>
            <a:pPr>
              <a:spcAft>
                <a:spcPts val="700"/>
              </a:spcAft>
              <a:defRPr sz="1400">
                <a:solidFill>
                  <a:srgbClr val="F3F8FF"/>
                </a:solidFill>
                <a:latin typeface="Aptos"/>
              </a:defRPr>
            </a:pPr>
            <a:r>
              <a:t>• Core logic split for testability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4709160"/>
            <a:ext cx="5394960" cy="1325880"/>
          </a:xfrm>
          <a:prstGeom prst="roundRect">
            <a:avLst/>
          </a:prstGeom>
          <a:solidFill>
            <a:srgbClr val="122B4D"/>
          </a:solidFill>
          <a:ln w="15240">
            <a:solidFill>
              <a:srgbClr val="1A3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DD3A7"/>
                </a:solidFill>
                <a:latin typeface="Aptos"/>
              </a:rPr>
              <a:t>Artifacts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5074920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F3F8FF"/>
                </a:solidFill>
                <a:latin typeface="Aptos"/>
              </a:defRPr>
            </a:pPr>
            <a:r>
              <a:t>• PRD, MVP, architecture, roadmap, changelog</a:t>
            </a:r>
          </a:p>
          <a:p>
            <a:pPr>
              <a:spcAft>
                <a:spcPts val="700"/>
              </a:spcAft>
              <a:defRPr sz="1400">
                <a:solidFill>
                  <a:srgbClr val="F3F8FF"/>
                </a:solidFill>
                <a:latin typeface="Aptos"/>
              </a:defRPr>
            </a:pPr>
            <a:r>
              <a:t>• Rubric map + artifact index</a:t>
            </a:r>
          </a:p>
          <a:p>
            <a:pPr>
              <a:spcAft>
                <a:spcPts val="700"/>
              </a:spcAft>
              <a:defRPr sz="1400">
                <a:solidFill>
                  <a:srgbClr val="F3F8FF"/>
                </a:solidFill>
                <a:latin typeface="Aptos"/>
              </a:defRPr>
            </a:pPr>
            <a:r>
              <a:t>• Evidence docs linked to decisions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9692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9C8DD"/>
                </a:solidFill>
                <a:latin typeface="Aptos"/>
              </a:rPr>
              <a:t>Recipe Scanner Midterm | https://github.com/patrickpetty23/recipe-app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38251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B9C8DD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DD3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8755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3F8FF"/>
                </a:solidFill>
                <a:latin typeface="Aptos Display"/>
              </a:rPr>
              <a:t>AI Infrastructure and Debugging Discipline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B9C8DD"/>
                </a:solidFill>
                <a:latin typeface="Aptos"/>
              </a:rPr>
              <a:t>What technical leaders evaluate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04120" y="338328"/>
            <a:ext cx="1828800" cy="530352"/>
          </a:xfrm>
          <a:prstGeom prst="roundRect">
            <a:avLst/>
          </a:prstGeom>
          <a:solidFill>
            <a:srgbClr val="1A3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DD3A7"/>
                </a:solidFill>
                <a:latin typeface="Aptos"/>
              </a:rPr>
              <a:t>Speaker C | 0:55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486400" cy="4480560"/>
          </a:xfrm>
          <a:prstGeom prst="roundRect">
            <a:avLst/>
          </a:prstGeom>
          <a:solidFill>
            <a:srgbClr val="122B4D"/>
          </a:solidFill>
          <a:ln w="15240">
            <a:solidFill>
              <a:srgbClr val="1A3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DD3A7"/>
                </a:solidFill>
                <a:latin typeface="Aptos"/>
              </a:rPr>
              <a:t>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057400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F3F8FF"/>
                </a:solidFill>
                <a:latin typeface="Aptos"/>
              </a:defRPr>
            </a:pPr>
            <a:r>
              <a:t>• AI docs structure (`aiDocs/`) and MCP checklist</a:t>
            </a:r>
          </a:p>
          <a:p>
            <a:pPr>
              <a:spcAft>
                <a:spcPts val="700"/>
              </a:spcAft>
              <a:defRPr sz="1500">
                <a:solidFill>
                  <a:srgbClr val="F3F8FF"/>
                </a:solidFill>
                <a:latin typeface="Aptos"/>
              </a:defRPr>
            </a:pPr>
            <a:r>
              <a:t>• Secret-safe `.gitignore` and reproducible scripts</a:t>
            </a:r>
          </a:p>
          <a:p>
            <a:pPr>
              <a:spcAft>
                <a:spcPts val="700"/>
              </a:spcAft>
              <a:defRPr sz="1500">
                <a:solidFill>
                  <a:srgbClr val="F3F8FF"/>
                </a:solidFill>
                <a:latin typeface="Aptos"/>
              </a:defRPr>
            </a:pPr>
            <a:r>
              <a:t>• Cross-platform constraints documented</a:t>
            </a:r>
          </a:p>
          <a:p>
            <a:pPr>
              <a:spcAft>
                <a:spcPts val="700"/>
              </a:spcAft>
              <a:defRPr sz="1500">
                <a:solidFill>
                  <a:srgbClr val="F3F8FF"/>
                </a:solidFill>
                <a:latin typeface="Aptos"/>
              </a:defRPr>
            </a:pPr>
            <a:r>
              <a:t>• Shared `RecipeCore` for parser + fixtures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554480"/>
            <a:ext cx="4937760" cy="2148840"/>
          </a:xfrm>
          <a:prstGeom prst="roundRect">
            <a:avLst/>
          </a:prstGeom>
          <a:solidFill>
            <a:srgbClr val="122B4D"/>
          </a:solidFill>
          <a:ln w="15240">
            <a:solidFill>
              <a:srgbClr val="1A3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DD3A7"/>
                </a:solidFill>
                <a:latin typeface="Aptos"/>
              </a:rPr>
              <a:t>Structured Logs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1965960"/>
            <a:ext cx="4480560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B9C8DD"/>
                </a:solidFill>
                <a:latin typeface="Aptos"/>
              </a:rPr>
              <a:t>{"event":"ocr_low_confidence","confidence":"0.66"}
{"event":"ocr_completed","ingredient_count":"17"}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886200"/>
            <a:ext cx="4937760" cy="2148840"/>
          </a:xfrm>
          <a:prstGeom prst="roundRect">
            <a:avLst/>
          </a:prstGeom>
          <a:solidFill>
            <a:srgbClr val="122B4D"/>
          </a:solidFill>
          <a:ln w="15240">
            <a:solidFill>
              <a:srgbClr val="1A3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DD3A7"/>
                </a:solidFill>
                <a:latin typeface="Aptos"/>
              </a:rPr>
              <a:t>Test-Log-Fix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4297680"/>
            <a:ext cx="44805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F3F8FF"/>
                </a:solidFill>
                <a:latin typeface="Aptos"/>
              </a:defRPr>
            </a:pPr>
            <a:r>
              <a:t>• Reproduce -&gt; inspect log -&gt; patch -&gt; rerun fixtures</a:t>
            </a:r>
          </a:p>
          <a:p>
            <a:pPr>
              <a:spcAft>
                <a:spcPts val="700"/>
              </a:spcAft>
              <a:defRPr sz="1400">
                <a:solidFill>
                  <a:srgbClr val="F3F8FF"/>
                </a:solidFill>
                <a:latin typeface="Aptos"/>
              </a:defRPr>
            </a:pPr>
            <a:r>
              <a:t>• `scripts/run-cli-tests.ps1` + JSON fixtures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00800"/>
            <a:ext cx="9692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9C8DD"/>
                </a:solidFill>
                <a:latin typeface="Aptos"/>
              </a:rPr>
              <a:t>Recipe Scanner Midterm | https://github.com/patrickpetty23/recipe-app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38251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B9C8DD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DD3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8755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3F8FF"/>
                </a:solidFill>
                <a:latin typeface="Aptos Display"/>
              </a:rPr>
              <a:t>Success/Failure Plan and Decision Gates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B9C8DD"/>
                </a:solidFill>
                <a:latin typeface="Aptos"/>
              </a:rPr>
              <a:t>Business-governed execution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04120" y="338328"/>
            <a:ext cx="1828800" cy="530352"/>
          </a:xfrm>
          <a:prstGeom prst="roundRect">
            <a:avLst/>
          </a:prstGeom>
          <a:solidFill>
            <a:srgbClr val="1A3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DD3A7"/>
                </a:solidFill>
                <a:latin typeface="Aptos"/>
              </a:rPr>
              <a:t>Speaker A | 0:55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394960" cy="4389120"/>
          </a:xfrm>
          <a:prstGeom prst="roundRect">
            <a:avLst/>
          </a:prstGeom>
          <a:solidFill>
            <a:srgbClr val="122B4D"/>
          </a:solidFill>
          <a:ln w="15240">
            <a:solidFill>
              <a:srgbClr val="1A3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DD3A7"/>
                </a:solidFill>
                <a:latin typeface="Aptos"/>
              </a:rPr>
              <a:t>Success Indicators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0312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F3F8FF"/>
                </a:solidFill>
                <a:latin typeface="Aptos"/>
              </a:defRPr>
            </a:pPr>
            <a:r>
              <a:t>• Median list creation remains &lt;30s</a:t>
            </a:r>
          </a:p>
          <a:p>
            <a:pPr>
              <a:spcAft>
                <a:spcPts val="700"/>
              </a:spcAft>
              <a:defRPr sz="1500">
                <a:solidFill>
                  <a:srgbClr val="F3F8FF"/>
                </a:solidFill>
                <a:latin typeface="Aptos"/>
              </a:defRPr>
            </a:pPr>
            <a:r>
              <a:t>• Field accuracy remains &gt;=90%</a:t>
            </a:r>
          </a:p>
          <a:p>
            <a:pPr>
              <a:spcAft>
                <a:spcPts val="700"/>
              </a:spcAft>
              <a:defRPr sz="1500">
                <a:solidFill>
                  <a:srgbClr val="F3F8FF"/>
                </a:solidFill>
                <a:latin typeface="Aptos"/>
              </a:defRPr>
            </a:pPr>
            <a:r>
              <a:t>• Weekly reuse intent &gt;=50%</a:t>
            </a:r>
          </a:p>
          <a:p>
            <a:pPr>
              <a:spcAft>
                <a:spcPts val="700"/>
              </a:spcAft>
              <a:defRPr sz="1500">
                <a:solidFill>
                  <a:srgbClr val="F3F8FF"/>
                </a:solidFill>
                <a:latin typeface="Aptos"/>
              </a:defRPr>
            </a:pPr>
            <a:r>
              <a:t>• Correction count trend decreases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645920"/>
            <a:ext cx="5074920" cy="4389120"/>
          </a:xfrm>
          <a:prstGeom prst="roundRect">
            <a:avLst/>
          </a:prstGeom>
          <a:solidFill>
            <a:srgbClr val="122B4D"/>
          </a:solidFill>
          <a:ln w="15240">
            <a:solidFill>
              <a:srgbClr val="1A3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DD3A7"/>
                </a:solidFill>
                <a:latin typeface="Aptos"/>
              </a:rPr>
              <a:t>Failure Triggers + Pivots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103120"/>
            <a:ext cx="4572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F3F8FF"/>
                </a:solidFill>
                <a:latin typeface="Aptos"/>
              </a:defRPr>
            </a:pPr>
            <a:r>
              <a:t>• If speed edge disappears, narrow use case</a:t>
            </a:r>
          </a:p>
          <a:p>
            <a:pPr>
              <a:spcAft>
                <a:spcPts val="700"/>
              </a:spcAft>
              <a:defRPr sz="1500">
                <a:solidFill>
                  <a:srgbClr val="F3F8FF"/>
                </a:solidFill>
                <a:latin typeface="Aptos"/>
              </a:defRPr>
            </a:pPr>
            <a:r>
              <a:t>• If trust remains low, shift to semi-manual assist</a:t>
            </a:r>
          </a:p>
          <a:p>
            <a:pPr>
              <a:spcAft>
                <a:spcPts val="700"/>
              </a:spcAft>
              <a:defRPr sz="1500">
                <a:solidFill>
                  <a:srgbClr val="F3F8FF"/>
                </a:solidFill>
                <a:latin typeface="Aptos"/>
              </a:defRPr>
            </a:pPr>
            <a:r>
              <a:t>• If retention fails, pause expansion and re-scope</a:t>
            </a:r>
          </a:p>
          <a:p>
            <a:pPr>
              <a:spcAft>
                <a:spcPts val="700"/>
              </a:spcAft>
              <a:defRPr sz="1500">
                <a:solidFill>
                  <a:srgbClr val="F3F8FF"/>
                </a:solidFill>
                <a:latin typeface="Aptos"/>
              </a:defRPr>
            </a:pPr>
            <a:r>
              <a:t>• Current top risk: social screenshot noise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9692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9C8DD"/>
                </a:solidFill>
                <a:latin typeface="Aptos"/>
              </a:rPr>
              <a:t>Recipe Scanner Midterm | https://github.com/patrickpetty23/recipe-app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38251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B9C8DD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DD3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8755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3F8FF"/>
                </a:solidFill>
                <a:latin typeface="Aptos Display"/>
              </a:rPr>
              <a:t>30-Day Plan Before Final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B9C8DD"/>
                </a:solidFill>
                <a:latin typeface="Aptos"/>
              </a:rPr>
              <a:t>Focused execution, no scope creep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04120" y="338328"/>
            <a:ext cx="1828800" cy="530352"/>
          </a:xfrm>
          <a:prstGeom prst="roundRect">
            <a:avLst/>
          </a:prstGeom>
          <a:solidFill>
            <a:srgbClr val="1A3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DD3A7"/>
                </a:solidFill>
                <a:latin typeface="Aptos"/>
              </a:rPr>
              <a:t>Speaker A | 0:50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10972800" cy="4480560"/>
          </a:xfrm>
          <a:prstGeom prst="roundRect">
            <a:avLst/>
          </a:prstGeom>
          <a:solidFill>
            <a:srgbClr val="122B4D"/>
          </a:solidFill>
          <a:ln w="15240">
            <a:solidFill>
              <a:srgbClr val="1A3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DD3A7"/>
                </a:solidFill>
                <a:latin typeface="Aptos"/>
              </a:rPr>
              <a:t>Milestones</a:t>
            </a:r>
          </a:p>
        </p:txBody>
      </p:sp>
      <p:sp>
        <p:nvSpPr>
          <p:cNvPr id="6" name="Oval 5"/>
          <p:cNvSpPr/>
          <p:nvPr/>
        </p:nvSpPr>
        <p:spPr>
          <a:xfrm>
            <a:off x="1051560" y="2148840"/>
            <a:ext cx="228600" cy="228600"/>
          </a:xfrm>
          <a:prstGeom prst="ellipse">
            <a:avLst/>
          </a:prstGeom>
          <a:solidFill>
            <a:srgbClr val="2DD3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130552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DD3A7"/>
                </a:solidFill>
                <a:latin typeface="Aptos"/>
              </a:rPr>
              <a:t>Week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121408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3F8FF"/>
                </a:solidFill>
                <a:latin typeface="Aptos"/>
              </a:rPr>
              <a:t>Screenshot-noise parser hardening + fixture expansion</a:t>
            </a:r>
          </a:p>
        </p:txBody>
      </p:sp>
      <p:sp>
        <p:nvSpPr>
          <p:cNvPr id="9" name="Oval 8"/>
          <p:cNvSpPr/>
          <p:nvPr/>
        </p:nvSpPr>
        <p:spPr>
          <a:xfrm>
            <a:off x="1051560" y="3081528"/>
            <a:ext cx="228600" cy="228600"/>
          </a:xfrm>
          <a:prstGeom prst="ellipse">
            <a:avLst/>
          </a:prstGeom>
          <a:solidFill>
            <a:srgbClr val="2DD3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0632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DD3A7"/>
                </a:solidFill>
                <a:latin typeface="Aptos"/>
              </a:rPr>
              <a:t>Week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3054096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3F8FF"/>
                </a:solidFill>
                <a:latin typeface="Aptos"/>
              </a:rPr>
              <a:t>Additional target-user sessions (student + ELS heavy)</a:t>
            </a:r>
          </a:p>
        </p:txBody>
      </p:sp>
      <p:sp>
        <p:nvSpPr>
          <p:cNvPr id="12" name="Oval 11"/>
          <p:cNvSpPr/>
          <p:nvPr/>
        </p:nvSpPr>
        <p:spPr>
          <a:xfrm>
            <a:off x="1051560" y="4014216"/>
            <a:ext cx="228600" cy="228600"/>
          </a:xfrm>
          <a:prstGeom prst="ellipse">
            <a:avLst/>
          </a:prstGeom>
          <a:solidFill>
            <a:srgbClr val="2DD3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3995928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DD3A7"/>
                </a:solidFill>
                <a:latin typeface="Aptos"/>
              </a:rPr>
              <a:t>Week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3986784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3F8FF"/>
                </a:solidFill>
                <a:latin typeface="Aptos"/>
              </a:rPr>
              <a:t>Measure correction trends and weekly reuse intent</a:t>
            </a:r>
          </a:p>
        </p:txBody>
      </p:sp>
      <p:sp>
        <p:nvSpPr>
          <p:cNvPr id="15" name="Oval 14"/>
          <p:cNvSpPr/>
          <p:nvPr/>
        </p:nvSpPr>
        <p:spPr>
          <a:xfrm>
            <a:off x="1051560" y="4946904"/>
            <a:ext cx="228600" cy="228600"/>
          </a:xfrm>
          <a:prstGeom prst="ellipse">
            <a:avLst/>
          </a:prstGeom>
          <a:solidFill>
            <a:srgbClr val="2DD3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4928616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DD3A7"/>
                </a:solidFill>
                <a:latin typeface="Aptos"/>
              </a:rPr>
              <a:t>Week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4919472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3F8FF"/>
                </a:solidFill>
                <a:latin typeface="Aptos"/>
              </a:rPr>
              <a:t>Demo polish + final decision checkpoint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00800"/>
            <a:ext cx="9692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9C8DD"/>
                </a:solidFill>
                <a:latin typeface="Aptos"/>
              </a:rPr>
              <a:t>Recipe Scanner Midterm | https://github.com/patrickpetty23/recipe-app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38251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B9C8DD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DD3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8755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3F8FF"/>
                </a:solidFill>
                <a:latin typeface="Aptos Display"/>
              </a:rPr>
              <a:t>Final Ask to Leadership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B9C8DD"/>
                </a:solidFill>
                <a:latin typeface="Aptos"/>
              </a:rPr>
              <a:t>Greenlight continuation with constrained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04120" y="338328"/>
            <a:ext cx="1828800" cy="530352"/>
          </a:xfrm>
          <a:prstGeom prst="roundRect">
            <a:avLst/>
          </a:prstGeom>
          <a:solidFill>
            <a:srgbClr val="1A3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DD3A7"/>
                </a:solidFill>
                <a:latin typeface="Aptos"/>
              </a:rPr>
              <a:t>Speaker A | 0:40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106070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3F8FF"/>
                </a:solidFill>
                <a:latin typeface="Aptos"/>
              </a:rPr>
              <a:t>We have evidence of customer value, a tested hypothesis, and disciplined technical process.
We are asking for approval to continue on the current narrow strategy.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520440"/>
            <a:ext cx="10972800" cy="2194560"/>
          </a:xfrm>
          <a:prstGeom prst="roundRect">
            <a:avLst/>
          </a:prstGeom>
          <a:solidFill>
            <a:srgbClr val="122B4D"/>
          </a:solidFill>
          <a:ln w="15240">
            <a:solidFill>
              <a:srgbClr val="1A3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DD3A7"/>
                </a:solidFill>
                <a:latin typeface="Aptos"/>
              </a:rPr>
              <a:t>Requested Decision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77639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F3F8FF"/>
                </a:solidFill>
                <a:latin typeface="Aptos"/>
              </a:defRPr>
            </a:pPr>
            <a:r>
              <a:t>• 1) Keep scope centered on translation bottleneck</a:t>
            </a:r>
          </a:p>
          <a:p>
            <a:pPr>
              <a:spcAft>
                <a:spcPts val="700"/>
              </a:spcAft>
              <a:defRPr sz="1700">
                <a:solidFill>
                  <a:srgbClr val="F3F8FF"/>
                </a:solidFill>
                <a:latin typeface="Aptos"/>
              </a:defRPr>
            </a:pPr>
            <a:r>
              <a:t>• 2) Prioritize screenshot-noise reduction over feature expansion</a:t>
            </a:r>
          </a:p>
          <a:p>
            <a:pPr>
              <a:spcAft>
                <a:spcPts val="700"/>
              </a:spcAft>
              <a:defRPr sz="1700">
                <a:solidFill>
                  <a:srgbClr val="F3F8FF"/>
                </a:solidFill>
                <a:latin typeface="Aptos"/>
              </a:defRPr>
            </a:pPr>
            <a:r>
              <a:t>• 3) Re-evaluate with retention and correction metrics at final milestone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9692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9C8DD"/>
                </a:solidFill>
                <a:latin typeface="Aptos"/>
              </a:rPr>
              <a:t>Recipe Scanner Midterm | https://github.com/patrickpetty23/recipe-app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38251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B9C8DD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DD3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8755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3F8FF"/>
                </a:solidFill>
                <a:latin typeface="Aptos Display"/>
              </a:rPr>
              <a:t>Appendix: Required Artifact Submission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B9C8DD"/>
                </a:solidFill>
                <a:latin typeface="Aptos"/>
              </a:rPr>
              <a:t>Everything requested in rubric is in-repo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04120" y="338328"/>
            <a:ext cx="1828800" cy="530352"/>
          </a:xfrm>
          <a:prstGeom prst="roundRect">
            <a:avLst/>
          </a:prstGeom>
          <a:solidFill>
            <a:srgbClr val="1A3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DD3A7"/>
                </a:solidFill>
                <a:latin typeface="Aptos"/>
              </a:rPr>
              <a:t>Backup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10972800" cy="4480560"/>
          </a:xfrm>
          <a:prstGeom prst="roundRect">
            <a:avLst/>
          </a:prstGeom>
          <a:solidFill>
            <a:srgbClr val="122B4D"/>
          </a:solidFill>
          <a:ln w="15240">
            <a:solidFill>
              <a:srgbClr val="1A3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DD3A7"/>
                </a:solidFill>
                <a:latin typeface="Aptos"/>
              </a:rPr>
              <a:t>Artifact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031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F3F8FF"/>
                </a:solidFill>
                <a:latin typeface="Aptos"/>
              </a:defRPr>
            </a:pPr>
            <a:r>
              <a:t>• GitHub repository link: https://github.com/patrickpetty23/recipe-app</a:t>
            </a:r>
          </a:p>
          <a:p>
            <a:pPr>
              <a:spcAft>
                <a:spcPts val="700"/>
              </a:spcAft>
              <a:defRPr sz="1500">
                <a:solidFill>
                  <a:srgbClr val="F3F8FF"/>
                </a:solidFill>
                <a:latin typeface="Aptos"/>
              </a:defRPr>
            </a:pPr>
            <a:r>
              <a:t>• Deep customer analysis</a:t>
            </a:r>
          </a:p>
          <a:p>
            <a:pPr>
              <a:spcAft>
                <a:spcPts val="700"/>
              </a:spcAft>
              <a:defRPr sz="1500">
                <a:solidFill>
                  <a:srgbClr val="F3F8FF"/>
                </a:solidFill>
                <a:latin typeface="Aptos"/>
              </a:defRPr>
            </a:pPr>
            <a:r>
              <a:t>• Founding hypothesis</a:t>
            </a:r>
          </a:p>
          <a:p>
            <a:pPr>
              <a:spcAft>
                <a:spcPts val="700"/>
              </a:spcAft>
              <a:defRPr sz="1500">
                <a:solidFill>
                  <a:srgbClr val="F3F8FF"/>
                </a:solidFill>
                <a:latin typeface="Aptos"/>
              </a:defRPr>
            </a:pPr>
            <a:r>
              <a:t>• 3 real customer conversation documents</a:t>
            </a:r>
          </a:p>
          <a:p>
            <a:pPr>
              <a:spcAft>
                <a:spcPts val="700"/>
              </a:spcAft>
              <a:defRPr sz="1500">
                <a:solidFill>
                  <a:srgbClr val="F3F8FF"/>
                </a:solidFill>
                <a:latin typeface="Aptos"/>
              </a:defRPr>
            </a:pPr>
            <a:r>
              <a:t>• 1 falsification test report</a:t>
            </a:r>
          </a:p>
          <a:p>
            <a:pPr>
              <a:spcAft>
                <a:spcPts val="700"/>
              </a:spcAft>
              <a:defRPr sz="1500">
                <a:solidFill>
                  <a:srgbClr val="F3F8FF"/>
                </a:solidFill>
                <a:latin typeface="Aptos"/>
              </a:defRPr>
            </a:pPr>
            <a:r>
              <a:t>• 1 2x2 differentiation grid</a:t>
            </a:r>
          </a:p>
          <a:p>
            <a:pPr>
              <a:spcAft>
                <a:spcPts val="700"/>
              </a:spcAft>
              <a:defRPr sz="1500">
                <a:solidFill>
                  <a:srgbClr val="F3F8FF"/>
                </a:solidFill>
                <a:latin typeface="Aptos"/>
              </a:defRPr>
            </a:pPr>
            <a:r>
              <a:t>• System architecture with leverage points and target layer</a:t>
            </a:r>
          </a:p>
          <a:p>
            <a:pPr>
              <a:spcAft>
                <a:spcPts val="700"/>
              </a:spcAft>
              <a:defRPr sz="1500">
                <a:solidFill>
                  <a:srgbClr val="F3F8FF"/>
                </a:solidFill>
                <a:latin typeface="Aptos"/>
              </a:defRPr>
            </a:pPr>
            <a:r>
              <a:t>• Technical process evidence, logging/debugging, and roadmap progression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9692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9C8DD"/>
                </a:solidFill>
                <a:latin typeface="Aptos"/>
              </a:rPr>
              <a:t>Recipe Scanner Midterm | https://github.com/patrickpetty23/recipe-app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38251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B9C8DD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DD3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8755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3F8FF"/>
                </a:solidFill>
                <a:latin typeface="Aptos Display"/>
              </a:rPr>
              <a:t>Reference Map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B9C8DD"/>
                </a:solidFill>
                <a:latin typeface="Aptos"/>
              </a:rPr>
              <a:t>Where reviewers can verify every claim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04120" y="338328"/>
            <a:ext cx="1828800" cy="530352"/>
          </a:xfrm>
          <a:prstGeom prst="roundRect">
            <a:avLst/>
          </a:prstGeom>
          <a:solidFill>
            <a:srgbClr val="1A3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DD3A7"/>
                </a:solidFill>
                <a:latin typeface="Aptos"/>
              </a:rPr>
              <a:t>Backup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10972800" cy="4480560"/>
          </a:xfrm>
          <a:prstGeom prst="roundRect">
            <a:avLst/>
          </a:prstGeom>
          <a:solidFill>
            <a:srgbClr val="122B4D"/>
          </a:solidFill>
          <a:ln w="15240">
            <a:solidFill>
              <a:srgbClr val="1A3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DD3A7"/>
                </a:solidFill>
                <a:latin typeface="Aptos"/>
              </a:rPr>
              <a:t>Key Files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F3F8FF"/>
                </a:solidFill>
                <a:latin typeface="Aptos"/>
              </a:defRPr>
            </a:pPr>
            <a:r>
              <a:t>• aiDocs/founding-hypothesis.md</a:t>
            </a:r>
          </a:p>
          <a:p>
            <a:pPr>
              <a:spcAft>
                <a:spcPts val="700"/>
              </a:spcAft>
              <a:defRPr sz="1500">
                <a:solidFill>
                  <a:srgbClr val="F3F8FF"/>
                </a:solidFill>
                <a:latin typeface="Aptos"/>
              </a:defRPr>
            </a:pPr>
            <a:r>
              <a:t>• aiDocs/falsification-test.md</a:t>
            </a:r>
          </a:p>
          <a:p>
            <a:pPr>
              <a:spcAft>
                <a:spcPts val="700"/>
              </a:spcAft>
              <a:defRPr sz="1500">
                <a:solidFill>
                  <a:srgbClr val="F3F8FF"/>
                </a:solidFill>
                <a:latin typeface="Aptos"/>
              </a:defRPr>
            </a:pPr>
            <a:r>
              <a:t>• aiDocs/differentiation-2x2.md</a:t>
            </a:r>
          </a:p>
          <a:p>
            <a:pPr>
              <a:spcAft>
                <a:spcPts val="700"/>
              </a:spcAft>
              <a:defRPr sz="1500">
                <a:solidFill>
                  <a:srgbClr val="F3F8FF"/>
                </a:solidFill>
                <a:latin typeface="Aptos"/>
              </a:defRPr>
            </a:pPr>
            <a:r>
              <a:t>• aiDocs/system-architecture-leverage.md</a:t>
            </a:r>
          </a:p>
          <a:p>
            <a:pPr>
              <a:spcAft>
                <a:spcPts val="700"/>
              </a:spcAft>
              <a:defRPr sz="1500">
                <a:solidFill>
                  <a:srgbClr val="F3F8FF"/>
                </a:solidFill>
                <a:latin typeface="Aptos"/>
              </a:defRPr>
            </a:pPr>
            <a:r>
              <a:t>• aiDocs/evidence/customer-conversation-u1.md / u2.md / u3.md</a:t>
            </a:r>
          </a:p>
          <a:p>
            <a:pPr>
              <a:spcAft>
                <a:spcPts val="700"/>
              </a:spcAft>
              <a:defRPr sz="1500">
                <a:solidFill>
                  <a:srgbClr val="F3F8FF"/>
                </a:solidFill>
                <a:latin typeface="Aptos"/>
              </a:defRPr>
            </a:pPr>
            <a:r>
              <a:t>• aiDocs/debugging.md and scripts/run-cli-tests.ps1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9692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9C8DD"/>
                </a:solidFill>
                <a:latin typeface="Aptos"/>
              </a:rPr>
              <a:t>Recipe Scanner Midterm | https://github.com/patrickpetty23/recipe-app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38251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B9C8DD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