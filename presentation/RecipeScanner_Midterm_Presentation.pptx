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Recipe Scanner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Midterm Process + Product Decision 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A | 0:45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ptos"/>
              </a:rPr>
              <a:t>Decision ask: Greenlight continuation with a focused
risk-reduction plan on screenshot-noise performance.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828800"/>
            <a:ext cx="2926080" cy="192024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What We Will Prove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233172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5F8FF"/>
                </a:solidFill>
                <a:latin typeface="Aptos"/>
              </a:defRPr>
            </a:pPr>
            <a:r>
              <a:t>Customer pain is real</a:t>
            </a:r>
          </a:p>
          <a:p>
            <a:pPr>
              <a:spcAft>
                <a:spcPts val="600"/>
              </a:spcAft>
              <a:defRPr sz="1400">
                <a:solidFill>
                  <a:srgbClr val="F5F8FF"/>
                </a:solidFill>
                <a:latin typeface="Aptos"/>
              </a:defRPr>
            </a:pPr>
            <a:r>
              <a:t>Hypothesis survived falsification</a:t>
            </a:r>
          </a:p>
          <a:p>
            <a:pPr>
              <a:spcAft>
                <a:spcPts val="600"/>
              </a:spcAft>
              <a:defRPr sz="1400">
                <a:solidFill>
                  <a:srgbClr val="F5F8FF"/>
                </a:solidFill>
                <a:latin typeface="Aptos"/>
              </a:defRPr>
            </a:pPr>
            <a:r>
              <a:t>Process discipline is strong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Problem and Why Now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Manual ingredient transcription is a repeated weekly tax.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A | 1:00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669280" cy="420624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Current User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Find recipe in cookbook / social media / blog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Manually copy ingredients into notes/reminders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Miss items or duplicate effort at the store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Repeat every week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63040"/>
            <a:ext cx="5120640" cy="420624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Baseline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2103120"/>
            <a:ext cx="2286000" cy="1645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3m 34s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Manual list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2103120"/>
            <a:ext cx="2103120" cy="1645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High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Pain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023360"/>
            <a:ext cx="4572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F5F8FF"/>
                </a:solidFill>
                <a:latin typeface="Aptos"/>
              </a:rPr>
              <a:t>Targeted bottleneck:
Recipe source -&gt; manual translation -&gt; shopping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Deep Customer Analysis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Primary fit: shared-living student cooks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A | 1:15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Segment Prioritization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DD3A7"/>
                </a:solidFill>
                <a:latin typeface="Aptos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874519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DD3A7"/>
                </a:solidFill>
                <a:latin typeface="Aptos"/>
              </a:rPr>
              <a:t>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7451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DD3A7"/>
                </a:solidFill>
                <a:latin typeface="Aptos"/>
              </a:rPr>
              <a:t>Reason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286000"/>
            <a:ext cx="10515600" cy="713232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F5F8FF"/>
                </a:solidFill>
                <a:latin typeface="Aptos"/>
              </a:rPr>
              <a:t>Roommate undergrad cooks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331720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DD3A7"/>
                </a:solidFill>
                <a:latin typeface="Aptos"/>
              </a:rPr>
              <a:t>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331720"/>
            <a:ext cx="6492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B9C6DD"/>
                </a:solidFill>
                <a:latin typeface="Aptos"/>
              </a:rPr>
              <a:t>High frequency, screenshot-heavy, manual workflow pain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127248"/>
            <a:ext cx="10515600" cy="713232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172968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F5F8FF"/>
                </a:solidFill>
                <a:latin typeface="Aptos"/>
              </a:rPr>
              <a:t>ELS/international student cooks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17296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DD3A7"/>
                </a:solidFill>
                <a:latin typeface="Aptos"/>
              </a:rPr>
              <a:t>5/5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172968"/>
            <a:ext cx="6492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B9C6DD"/>
                </a:solidFill>
                <a:latin typeface="Aptos"/>
              </a:rPr>
              <a:t>Mixed-language ingredient friction + manual translation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68496"/>
            <a:ext cx="10515600" cy="713232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14215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F5F8FF"/>
                </a:solidFill>
                <a:latin typeface="Aptos"/>
              </a:rPr>
              <a:t>Recipe app power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4014215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DD3A7"/>
                </a:solidFill>
                <a:latin typeface="Aptos"/>
              </a:rPr>
              <a:t>2/5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014215"/>
            <a:ext cx="6492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B9C6DD"/>
                </a:solidFill>
                <a:latin typeface="Aptos"/>
              </a:rPr>
              <a:t>Already structured workflows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09744"/>
            <a:ext cx="10515600" cy="713232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855464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F5F8FF"/>
                </a:solidFill>
                <a:latin typeface="Aptos"/>
              </a:rPr>
              <a:t>Delivery-first 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4855464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DD3A7"/>
                </a:solidFill>
                <a:latin typeface="Aptos"/>
              </a:rPr>
              <a:t>1/5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855464"/>
            <a:ext cx="6492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B9C6DD"/>
                </a:solidFill>
                <a:latin typeface="Aptos"/>
              </a:rPr>
              <a:t>Low list-building frequency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Founding Hypothesis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Speed + correction quality drives adoption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A | 0:50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92024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Core 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5F8FF"/>
                </a:solidFill>
                <a:latin typeface="Aptos"/>
              </a:rPr>
              <a:t>If we reduce recipe-to-shopping-list time by &gt;=30%, users will adopt weekly even with imperfect OCR, if common corrections stay fast (&lt;10s).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11880"/>
            <a:ext cx="5303520" cy="224028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Predictions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6908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Median saved-list time &lt; 30s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Faster than Notes/Reminders baseline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&gt;=50% weekly reuse intent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3611880"/>
            <a:ext cx="5532120" cy="224028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Invalidating 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4069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No speed advantage vs manual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Low trust despite edit mode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Weak repeat intent after trial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Real Customer Conversations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3 roommate interviews completed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B | 1:20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749039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U1 | Undergrad roommate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19" y="2240280"/>
            <a:ext cx="1554480" cy="11887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1m 56s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Time to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39" y="2304288"/>
            <a:ext cx="1508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DD3A7"/>
                </a:solidFill>
                <a:latin typeface="Aptos"/>
              </a:rPr>
              <a:t>Interview
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3703320"/>
            <a:ext cx="30175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Faster than notes; wants confidence on fractions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645920"/>
            <a:ext cx="3749039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U2 | Undergrad roommate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240280"/>
            <a:ext cx="1554480" cy="11887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2m 18s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Time to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04288"/>
            <a:ext cx="1508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DD3A7"/>
                </a:solidFill>
                <a:latin typeface="Aptos"/>
              </a:rPr>
              <a:t>Interview
Validated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3703320"/>
            <a:ext cx="30175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Import flow great; screenshot noise is biggest pain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645920"/>
            <a:ext cx="3749039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U3 | ELS roommate (Peru)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19" y="2240280"/>
            <a:ext cx="1554480" cy="11887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2m 04s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Time to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2304288"/>
            <a:ext cx="1508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DD3A7"/>
                </a:solidFill>
                <a:latin typeface="Aptos"/>
              </a:rPr>
              <a:t>Interview
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3703320"/>
            <a:ext cx="30175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Checklist persistence + simple offline flow matter most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Falsification Test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We tried to disprove our own claim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B | 1:10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A/B Results: Manual vs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2194560" cy="155448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7676"/>
                </a:solidFill>
                <a:latin typeface="Aptos Display"/>
              </a:rPr>
              <a:t>3m 34s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Manual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011680"/>
            <a:ext cx="2194560" cy="155448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2m 06s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App overall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11680"/>
            <a:ext cx="2194560" cy="155448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41%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Overall faster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2011680"/>
            <a:ext cx="2651760" cy="155448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7676"/>
                </a:solidFill>
                <a:latin typeface="Aptos Display"/>
              </a:rPr>
              <a:t>28%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Screenshot subset faster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Primary falsification failed: core claim still holds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Boundary identified: screenshot-heavy case underperforms target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Decision: continue direction, prioritize screenshot-noise reduction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2x2 Differentiation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Input flexibility vs list automation depth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B | 1:05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57200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5303520"/>
            <a:ext cx="8046720" cy="27432"/>
          </a:xfrm>
          <a:prstGeom prst="rect">
            <a:avLst/>
          </a:prstGeom>
          <a:solidFill>
            <a:srgbClr val="B9C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1828800"/>
            <a:ext cx="27432" cy="3474720"/>
          </a:xfrm>
          <a:prstGeom prst="rect">
            <a:avLst/>
          </a:prstGeom>
          <a:solidFill>
            <a:srgbClr val="B9C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4864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9C6DD"/>
                </a:solidFill>
                <a:latin typeface="Aptos"/>
              </a:rPr>
              <a:t>Input Flexibility -&gt;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9144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9C6DD"/>
                </a:solidFill>
                <a:latin typeface="Aptos"/>
              </a:rPr>
              <a:t>List
Automation
Depth</a:t>
            </a:r>
          </a:p>
        </p:txBody>
      </p:sp>
      <p:sp>
        <p:nvSpPr>
          <p:cNvPr id="10" name="Oval 9"/>
          <p:cNvSpPr/>
          <p:nvPr/>
        </p:nvSpPr>
        <p:spPr>
          <a:xfrm>
            <a:off x="2286000" y="4754880"/>
            <a:ext cx="256032" cy="256032"/>
          </a:xfrm>
          <a:prstGeom prst="ellipse">
            <a:avLst/>
          </a:prstGeom>
          <a:solidFill>
            <a:srgbClr val="B9C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4736592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5F8FF"/>
                </a:solidFill>
                <a:latin typeface="Aptos"/>
              </a:rPr>
              <a:t>Manual Notes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0" y="4114800"/>
            <a:ext cx="256032" cy="256032"/>
          </a:xfrm>
          <a:prstGeom prst="ellipse">
            <a:avLst/>
          </a:prstGeom>
          <a:solidFill>
            <a:srgbClr val="FFB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4096512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5F8FF"/>
                </a:solidFill>
                <a:latin typeface="Aptos"/>
              </a:rPr>
              <a:t>Google Lens/
Live Text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0" y="3200400"/>
            <a:ext cx="256032" cy="256032"/>
          </a:xfrm>
          <a:prstGeom prst="ellipse">
            <a:avLst/>
          </a:prstGeom>
          <a:solidFill>
            <a:srgbClr val="FFB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182112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5F8FF"/>
                </a:solidFill>
                <a:latin typeface="Aptos"/>
              </a:rPr>
              <a:t>Paprika / Mela</a:t>
            </a:r>
          </a:p>
        </p:txBody>
      </p:sp>
      <p:sp>
        <p:nvSpPr>
          <p:cNvPr id="16" name="Oval 15"/>
          <p:cNvSpPr/>
          <p:nvPr/>
        </p:nvSpPr>
        <p:spPr>
          <a:xfrm>
            <a:off x="8321040" y="2468880"/>
            <a:ext cx="256032" cy="256032"/>
          </a:xfrm>
          <a:prstGeom prst="ellipse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2450592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F8FF"/>
                </a:solidFill>
                <a:latin typeface="Aptos"/>
              </a:rPr>
              <a:t>Recipe Scanner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System Architecture and Leverage Points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Targeting the translation bottleneck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B | 1:15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468880" cy="100584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Recipe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1828800"/>
            <a:ext cx="4572000" cy="100584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Recipe Scanner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0" y="1828800"/>
            <a:ext cx="2468880" cy="100584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Grocery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14884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F5F8FF"/>
                </a:solidFill>
                <a:latin typeface="Aptos"/>
              </a:rPr>
              <a:t>Capture -&gt; OCR -&gt; Parse -&gt; Edit -&gt; Checklist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37560" y="2057400"/>
            <a:ext cx="365760" cy="457200"/>
          </a:xfrm>
          <a:prstGeom prst="rightArrow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366760" y="2057400"/>
            <a:ext cx="365760" cy="457200"/>
          </a:xfrm>
          <a:prstGeom prst="rightArrow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291840"/>
            <a:ext cx="10972800" cy="228600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Leverage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0332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LP1 OCR quality on noisy inputs -&gt; reduces downstream cleanup cost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LP2 Parser precision -&gt; improves structured output accuracy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LP3 Edit speed -&gt; converts imperfect extraction into usable list quickly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LP4 Checklist persistence -&gt; drives repeat weekly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MVP Product Snapshot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End-to-end flow is implemented and measured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C | 0:55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438912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1. Capture or import recipe image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2. Vision OCR extraction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3. Ingredient parser + confidence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4. Inline edit/add/delete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5. Save recipe + persistent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08760"/>
            <a:ext cx="5120640" cy="438912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Measured Outcomes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011680"/>
            <a:ext cx="1463040" cy="128016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0.82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Median OCR confidence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2011680"/>
            <a:ext cx="1463040" cy="128016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91.3%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Field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2011680"/>
            <a:ext cx="1463040" cy="128016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2DD3A7"/>
                </a:solidFill>
                <a:latin typeface="Aptos Display"/>
              </a:rPr>
              <a:t>26.9s</a:t>
            </a:r>
          </a:p>
          <a:p>
            <a:pPr algn="ctr"/>
            <a:r>
              <a:rPr sz="1200">
                <a:solidFill>
                  <a:srgbClr val="B9C6DD"/>
                </a:solidFill>
                <a:latin typeface="Aptos"/>
              </a:rPr>
              <a:t>Median time to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657600"/>
            <a:ext cx="44805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Dataset: 10 recipes, 124 ingredient lines,
0 crashes in pilot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Technical Process: Document-Driven Development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PRD -&gt; plan -&gt; roadmap -&gt; implementation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C | 1:00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72800" cy="429768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Pipeline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80"/>
            <a:ext cx="1508760" cy="100584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PRD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87168" y="3154680"/>
            <a:ext cx="347472" cy="457200"/>
          </a:xfrm>
          <a:prstGeom prst="rightArrow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16352" y="2926080"/>
            <a:ext cx="1508760" cy="100584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MVP Scope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89120" y="3154680"/>
            <a:ext cx="347472" cy="457200"/>
          </a:xfrm>
          <a:prstGeom prst="rightArrow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18304" y="2926080"/>
            <a:ext cx="1508760" cy="100584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Architecture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291072" y="3154680"/>
            <a:ext cx="347472" cy="457200"/>
          </a:xfrm>
          <a:prstGeom prst="rightArrow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0256" y="2926080"/>
            <a:ext cx="1508760" cy="100584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Roadmap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93024" y="3154680"/>
            <a:ext cx="347472" cy="457200"/>
          </a:xfrm>
          <a:prstGeom prst="rightArrow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22208" y="2926080"/>
            <a:ext cx="1508760" cy="100584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Implementation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0094976" y="3154680"/>
            <a:ext cx="347472" cy="457200"/>
          </a:xfrm>
          <a:prstGeom prst="rightArrow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424160" y="2926080"/>
            <a:ext cx="1508760" cy="100584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Changelog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4340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F5F8FF"/>
                </a:solidFill>
                <a:latin typeface="Aptos"/>
              </a:rPr>
              <a:t>Every phase has living doc evidence and checked roadmap tasks.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AI Development Infrastructure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Built for auditability and AI-assisted iteration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C | 0:55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94960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Structured AI docs (`aiDocs/`)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Context + PRD + roadmap + evidence artifacts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MCP checklist documented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Cross-platform constraints documented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Secret-safe `.gitignore`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Repository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iOS app: `ios/RecipeScannerApp`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Shared core: `Sources/RecipeCore`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Tests + fixtures + CLI scripts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Presentation artifact manifest included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Phase-by-Phase Implementation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Incremental delivery across defined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C | 0:55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972800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Roadmap Completion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2057400"/>
            <a:ext cx="292608" cy="292608"/>
          </a:xfrm>
          <a:prstGeom prst="ellipse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029968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DD3A7"/>
                </a:solidFill>
                <a:latin typeface="Aptos"/>
              </a:rP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029968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Docs + foundation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2770632"/>
            <a:ext cx="292608" cy="292608"/>
          </a:xfrm>
          <a:prstGeom prst="ellipse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DD3A7"/>
                </a:solidFill>
                <a:latin typeface="Aptos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43200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Core scan/edit/list workflow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3483864"/>
            <a:ext cx="292608" cy="292608"/>
          </a:xfrm>
          <a:prstGeom prst="ellipse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456432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DD3A7"/>
                </a:solidFill>
                <a:latin typeface="Aptos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45643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Storage + recipe history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4197096"/>
            <a:ext cx="292608" cy="292608"/>
          </a:xfrm>
          <a:prstGeom prst="ellipse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16966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DD3A7"/>
                </a:solidFill>
                <a:latin typeface="Aptos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169664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Merge + debug tooling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4910328"/>
            <a:ext cx="292608" cy="292608"/>
          </a:xfrm>
          <a:prstGeom prst="ellipse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4882896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DD3A7"/>
                </a:solidFill>
                <a:latin typeface="Aptos"/>
              </a:rPr>
              <a:t>Phase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882896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8FF"/>
                </a:solidFill>
                <a:latin typeface="Aptos"/>
              </a:rPr>
              <a:t>Rubric artifacts + presentation 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Structured Logging and Debugging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Evidence of test-log-fix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C | 1:00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5577840" cy="438912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Logging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JSONL structured logs in app Documents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Events: ocr_started, ocr_low_confidence, ocr_completed, recipe_saved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Used to trace OCR confidence and parsing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00200"/>
            <a:ext cx="5212080" cy="438912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Validation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14884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CLI scripts run tests + fixtures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Reproduce issue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Inspect logs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Patch parser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Re-run tests and document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Top Risks and 30-Day Plan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Honest risk posture with clear next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A | 0:55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438912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Top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Social screenshot noise lowers speed margin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OCR trust can drop on stylized fractions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Need stronger repeat-use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Next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488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Increase screenshot-focused parser coverage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Run additional roommate/cohort validation sessions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Measure weekly return + correction trend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Defer non-core features until risk reduces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Recommendation and Ask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Greenlight continuation with narrow focus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Speaker A | 0:40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F5F8FF"/>
                </a:solidFill>
                <a:latin typeface="Aptos"/>
              </a:rPr>
              <a:t>Recommendation: Continue this project direction.
Rationale: validated customer pain, measurable speed gains, and disciplined process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29000"/>
            <a:ext cx="10972800" cy="201168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What We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1) Approval to stay focused on translation bottleneck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2) Support for screenshot-heavy test expansion</a:t>
            </a:r>
          </a:p>
          <a:p>
            <a:pPr>
              <a:spcAft>
                <a:spcPts val="600"/>
              </a:spcAft>
              <a:defRPr sz="1900">
                <a:solidFill>
                  <a:srgbClr val="F5F8FF"/>
                </a:solidFill>
                <a:latin typeface="Aptos"/>
              </a:defRPr>
            </a:pPr>
            <a:r>
              <a:t>3) Permission to defer non-core expansion until retention signal strengthens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5F8FF"/>
                </a:solidFill>
                <a:latin typeface="Aptos Display"/>
              </a:rPr>
              <a:t>Appendix: Required Artifact Map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B9C6DD"/>
                </a:solidFill>
                <a:latin typeface="Aptos"/>
              </a:rPr>
              <a:t>Submission completeness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320040"/>
            <a:ext cx="1828800" cy="502920"/>
          </a:xfrm>
          <a:prstGeom prst="roundRect">
            <a:avLst/>
          </a:prstGeom>
          <a:solidFill>
            <a:srgbClr val="1A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DD3A7"/>
                </a:solidFill>
                <a:latin typeface="Aptos"/>
              </a:rPr>
              <a:t>Backup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72800" cy="4480560"/>
          </a:xfrm>
          <a:prstGeom prst="roundRect">
            <a:avLst/>
          </a:prstGeom>
          <a:solidFill>
            <a:srgbClr val="142846"/>
          </a:solidFill>
          <a:ln w="15240">
            <a:solidFill>
              <a:srgbClr val="1A3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D3A7"/>
                </a:solidFill>
                <a:latin typeface="Aptos"/>
              </a:rPr>
              <a:t>Artifacts Included in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42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GitHub repo link: https://github.com/patrickpetty23/recipe-app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Deep customer analysis + founding hypothesis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3 real customer conversations (2 required, 3 provided)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1 completed falsification test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1 completed 2x2 differentiation grid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System architecture + leverage point targeting</a:t>
            </a:r>
          </a:p>
          <a:p>
            <a:pPr>
              <a:spcAft>
                <a:spcPts val="600"/>
              </a:spcAft>
              <a:defRPr sz="1600">
                <a:solidFill>
                  <a:srgbClr val="F5F8FF"/>
                </a:solidFill>
                <a:latin typeface="Aptos"/>
              </a:defRPr>
            </a:pPr>
            <a:r>
              <a:t>Full technical process evidence (docs, roadmap, logging, scripts)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9C6DD"/>
                </a:solidFill>
                <a:latin typeface="Aptos"/>
              </a:rPr>
              <a:t>Recipe Scanner Midterm | https://github.com/patrickpetty23/recipe-app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B9C6DD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